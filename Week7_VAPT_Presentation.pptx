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4" d="100"/>
          <a:sy n="84" d="100"/>
        </p:scale>
        <p:origin x="36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65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practical: web application testing on a local DVWA lab using Burp Suite and Dirsearch.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DVWA is intentionally vulnerable. All testing stayed on localhost.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environment and the five-step method followed in the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that Burp sits between the browser and DVWA so every request can be 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Mapping helped me pick which input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Figures 5 and 6 in the report: Low security level, then the modified request. Payload was the tautology 1' OR '1'='1.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Reflected: input returned in the response. Stored: input is saved in the guestbook and runs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Extensions php, html, txt and 10 threads. Results describe the local lab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with the main learning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2304A"/>
                </a:solidFill>
                <a:latin typeface="Times New Roman"/>
              </a:rPr>
              <a:t>WEEK 7 – VAPT: WEB APPLICATION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 i="0">
                <a:solidFill>
                  <a:srgbClr val="237A78"/>
                </a:solidFill>
                <a:latin typeface="Times New Roman"/>
              </a:rPr>
              <a:t>Web Application Testing with Burp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Local lab: Kali Linux + DVWA • Evidence-based practical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Burp Suite • SQL Injection • XSS • Dirsearch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7390" y="5760720"/>
            <a:ext cx="355117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0" i="0" dirty="0">
                <a:solidFill>
                  <a:srgbClr val="12304A"/>
                </a:solidFill>
                <a:latin typeface="Times New Roman"/>
              </a:rPr>
              <a:t>Prepared by: </a:t>
            </a:r>
            <a:r>
              <a:rPr lang="en-IN" sz="1400" dirty="0"/>
              <a:t>Pooja G </a:t>
            </a:r>
            <a:r>
              <a:rPr lang="en-IN" sz="1400" dirty="0" err="1"/>
              <a:t>Shivakalimath</a:t>
            </a:r>
            <a:endParaRPr sz="1400" b="0" i="0" dirty="0">
              <a:solidFill>
                <a:srgbClr val="12304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34778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237A78"/>
              </a:buClr>
              <a:buFont typeface="Arial"/>
              <a:buChar char="•"/>
            </a:pPr>
            <a:r>
              <a:rPr sz="2000" b="0" dirty="0">
                <a:solidFill>
                  <a:srgbClr val="222222"/>
                </a:solidFill>
                <a:latin typeface="Times New Roman"/>
              </a:rPr>
              <a:t>Configure Burp Suite and intercept HTTP requests.</a:t>
            </a:r>
          </a:p>
          <a:p>
            <a:pPr marL="256032" indent="-256032">
              <a:spcAft>
                <a:spcPts val="1200"/>
              </a:spcAft>
              <a:buClr>
                <a:srgbClr val="237A78"/>
              </a:buClr>
              <a:buFont typeface="Arial"/>
              <a:buChar char="•"/>
            </a:pPr>
            <a:r>
              <a:rPr sz="2000" b="0" dirty="0">
                <a:solidFill>
                  <a:srgbClr val="222222"/>
                </a:solidFill>
                <a:latin typeface="Times New Roman"/>
              </a:rPr>
              <a:t>Explore the application and identify request parameters.</a:t>
            </a:r>
          </a:p>
          <a:p>
            <a:pPr marL="256032" indent="-256032">
              <a:spcAft>
                <a:spcPts val="1200"/>
              </a:spcAft>
              <a:buClr>
                <a:srgbClr val="237A78"/>
              </a:buClr>
              <a:buFont typeface="Arial"/>
              <a:buChar char="•"/>
            </a:pPr>
            <a:r>
              <a:rPr sz="2000" b="0" dirty="0">
                <a:solidFill>
                  <a:srgbClr val="222222"/>
                </a:solidFill>
                <a:latin typeface="Times New Roman"/>
              </a:rPr>
              <a:t>Test SQL Injection and Cross-Site Scripting (XSS) in the authorized lab.</a:t>
            </a:r>
          </a:p>
          <a:p>
            <a:pPr marL="256032" indent="-256032">
              <a:spcAft>
                <a:spcPts val="1200"/>
              </a:spcAft>
              <a:buClr>
                <a:srgbClr val="237A78"/>
              </a:buClr>
              <a:buFont typeface="Arial"/>
              <a:buChar char="•"/>
            </a:pPr>
            <a:r>
              <a:rPr sz="2000" b="0" dirty="0">
                <a:solidFill>
                  <a:srgbClr val="222222"/>
                </a:solidFill>
                <a:latin typeface="Times New Roman"/>
              </a:rPr>
              <a:t>Use </a:t>
            </a:r>
            <a:r>
              <a:rPr sz="2000" b="0" dirty="0" err="1">
                <a:solidFill>
                  <a:srgbClr val="222222"/>
                </a:solidFill>
                <a:latin typeface="Times New Roman"/>
              </a:rPr>
              <a:t>Dirsearch</a:t>
            </a:r>
            <a:r>
              <a:rPr sz="2000" b="0" dirty="0">
                <a:solidFill>
                  <a:srgbClr val="222222"/>
                </a:solidFill>
                <a:latin typeface="Times New Roman"/>
              </a:rPr>
              <a:t> to find accessible paths and files.</a:t>
            </a:r>
          </a:p>
          <a:p>
            <a:pPr marL="256032" indent="-256032">
              <a:spcAft>
                <a:spcPts val="1200"/>
              </a:spcAft>
              <a:buClr>
                <a:srgbClr val="237A78"/>
              </a:buClr>
              <a:buFont typeface="Arial"/>
              <a:buChar char="•"/>
            </a:pPr>
            <a:r>
              <a:rPr sz="2000" b="0" dirty="0">
                <a:solidFill>
                  <a:srgbClr val="222222"/>
                </a:solidFill>
                <a:latin typeface="Times New Roman"/>
              </a:rPr>
              <a:t>Document evidence, possible impact, and recommended fixes.</a:t>
            </a:r>
            <a:endParaRPr lang="en-IN" sz="2000" b="0" dirty="0">
              <a:solidFill>
                <a:srgbClr val="222222"/>
              </a:solidFill>
              <a:latin typeface="Times New Roman"/>
            </a:endParaRPr>
          </a:p>
          <a:p>
            <a:pPr>
              <a:spcAft>
                <a:spcPts val="1200"/>
              </a:spcAft>
              <a:buClr>
                <a:srgbClr val="237A78"/>
              </a:buClr>
            </a:pPr>
            <a:endParaRPr lang="en-IN" sz="2000" dirty="0">
              <a:solidFill>
                <a:srgbClr val="222222"/>
              </a:solidFill>
              <a:latin typeface="Times New Roman"/>
            </a:endParaRPr>
          </a:p>
          <a:p>
            <a:pPr>
              <a:spcAft>
                <a:spcPts val="1200"/>
              </a:spcAft>
              <a:buClr>
                <a:srgbClr val="237A78"/>
              </a:buClr>
            </a:pPr>
            <a:r>
              <a:rPr lang="en-US" sz="2000" dirty="0">
                <a:solidFill>
                  <a:srgbClr val="12304A"/>
                </a:solidFill>
                <a:latin typeface="Times New Roman"/>
              </a:rPr>
              <a:t>DVWA running locally at http://127.0.0.1/DVWA/ only — Low security mode, authorized practice lab.</a:t>
            </a:r>
            <a:endParaRPr sz="2000" dirty="0">
              <a:solidFill>
                <a:srgbClr val="222222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Times New Roman"/>
              </a:rPr>
              <a:t>Tools, Lab Setup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31066F2-A72B-35F0-21BC-089F29C7E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645487"/>
              </p:ext>
            </p:extLst>
          </p:nvPr>
        </p:nvGraphicFramePr>
        <p:xfrm>
          <a:off x="921327" y="1364673"/>
          <a:ext cx="10051473" cy="30175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4763">
                  <a:extLst>
                    <a:ext uri="{9D8B030D-6E8A-4147-A177-3AD203B41FA5}">
                      <a16:colId xmlns:a16="http://schemas.microsoft.com/office/drawing/2014/main" val="2043924226"/>
                    </a:ext>
                  </a:extLst>
                </a:gridCol>
                <a:gridCol w="6796710">
                  <a:extLst>
                    <a:ext uri="{9D8B030D-6E8A-4147-A177-3AD203B41FA5}">
                      <a16:colId xmlns:a16="http://schemas.microsoft.com/office/drawing/2014/main" val="1686810011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Details</a:t>
                      </a:r>
                      <a:endParaRPr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487957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2304A"/>
                          </a:solidFill>
                        </a:rPr>
                        <a:t>Operating system</a:t>
                      </a:r>
                      <a:endParaRPr sz="1600" b="1" dirty="0">
                        <a:solidFill>
                          <a:srgbClr val="12304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</a:rPr>
                        <a:t>Kali Linux</a:t>
                      </a:r>
                      <a:endParaRPr sz="1600" b="0">
                        <a:solidFill>
                          <a:srgbClr val="222222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324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2304A"/>
                          </a:solidFill>
                        </a:rPr>
                        <a:t>Target application</a:t>
                      </a:r>
                      <a:endParaRPr sz="1600" b="1" dirty="0">
                        <a:solidFill>
                          <a:srgbClr val="12304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</a:rPr>
                        <a:t>DVWA (Damn Vulnerable Web Application)</a:t>
                      </a:r>
                      <a:endParaRPr sz="1600" b="0">
                        <a:solidFill>
                          <a:srgbClr val="222222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56917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2304A"/>
                          </a:solidFill>
                        </a:rPr>
                        <a:t>Target URL</a:t>
                      </a:r>
                      <a:endParaRPr sz="1600" b="1" dirty="0">
                        <a:solidFill>
                          <a:srgbClr val="12304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</a:rPr>
                        <a:t>http://127.0.0.1/DVWA/</a:t>
                      </a:r>
                      <a:endParaRPr sz="1600" b="0" dirty="0">
                        <a:solidFill>
                          <a:srgbClr val="222222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5255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304A"/>
                          </a:solidFill>
                        </a:rPr>
                        <a:t>Proxy &amp; testing tool</a:t>
                      </a:r>
                      <a:endParaRPr sz="1600" b="1">
                        <a:solidFill>
                          <a:srgbClr val="12304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</a:rPr>
                        <a:t>Burp Suite Community Edition</a:t>
                      </a:r>
                      <a:endParaRPr sz="1600" b="0" dirty="0">
                        <a:solidFill>
                          <a:srgbClr val="222222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41026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2304A"/>
                          </a:solidFill>
                        </a:rPr>
                        <a:t>Enumeration tool</a:t>
                      </a:r>
                      <a:endParaRPr sz="1600" b="1">
                        <a:solidFill>
                          <a:srgbClr val="12304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</a:rPr>
                        <a:t>Dirsearch</a:t>
                      </a:r>
                      <a:endParaRPr sz="1600" b="0" dirty="0">
                        <a:solidFill>
                          <a:srgbClr val="222222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133620"/>
                  </a:ext>
                </a:extLst>
              </a:tr>
              <a:tr h="431077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2304A"/>
                          </a:solidFill>
                        </a:rPr>
                        <a:t>Browser</a:t>
                      </a:r>
                      <a:endParaRPr sz="1600" b="1" dirty="0">
                        <a:solidFill>
                          <a:srgbClr val="12304A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</a:rPr>
                        <a:t>Burp Suite built-in browser</a:t>
                      </a:r>
                      <a:endParaRPr sz="1600" b="0" dirty="0">
                        <a:solidFill>
                          <a:srgbClr val="222222"/>
                        </a:solidFill>
                        <a:latin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4050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Task 22: Burp Suite Setup &amp; Request Interception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37A78"/>
              </a:buClr>
              <a:buFont typeface="Arial"/>
              <a:buChar char="•"/>
            </a:pPr>
            <a:r>
              <a:rPr sz="1800" b="0">
                <a:solidFill>
                  <a:srgbClr val="222222"/>
                </a:solidFill>
                <a:latin typeface="Times New Roman"/>
              </a:rPr>
              <a:t>Opened the DVWA login page through the Burp Suite browser.</a:t>
            </a:r>
          </a:p>
          <a:p>
            <a:pPr marL="256032" indent="-256032">
              <a:spcAft>
                <a:spcPts val="600"/>
              </a:spcAft>
              <a:buClr>
                <a:srgbClr val="237A78"/>
              </a:buClr>
              <a:buFont typeface="Arial"/>
              <a:buChar char="•"/>
            </a:pPr>
            <a:r>
              <a:rPr sz="1800" b="0">
                <a:solidFill>
                  <a:srgbClr val="222222"/>
                </a:solidFill>
                <a:latin typeface="Times New Roman"/>
              </a:rPr>
              <a:t>Used Proxy interception to capture the page request and the login request.</a:t>
            </a:r>
          </a:p>
          <a:p>
            <a:pPr marL="256032" indent="-256032">
              <a:spcAft>
                <a:spcPts val="600"/>
              </a:spcAft>
              <a:buClr>
                <a:srgbClr val="237A78"/>
              </a:buClr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Times New Roman"/>
              </a:rPr>
              <a:t>Result: </a:t>
            </a:r>
            <a:r>
              <a:rPr sz="1800" b="0">
                <a:solidFill>
                  <a:srgbClr val="222222"/>
                </a:solidFill>
                <a:latin typeface="Times New Roman"/>
              </a:rPr>
              <a:t>method, path, headers and login parameters were visible for inspection.</a:t>
            </a:r>
          </a:p>
        </p:txBody>
      </p:sp>
      <p:pic>
        <p:nvPicPr>
          <p:cNvPr id="6" name="Picture 5" descr="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21745"/>
            <a:ext cx="5029200" cy="3551872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6276784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6B7B88"/>
                </a:solidFill>
                <a:latin typeface="Times New Roman"/>
              </a:rPr>
              <a:t>Fig 1: HTTP request intercepted in Burp Suite</a:t>
            </a:r>
          </a:p>
        </p:txBody>
      </p:sp>
      <p:pic>
        <p:nvPicPr>
          <p:cNvPr id="8" name="Picture 7" descr="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0" y="2521745"/>
            <a:ext cx="5029200" cy="3551872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55080" y="6276784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6B7B88"/>
                </a:solidFill>
                <a:latin typeface="Times New Roman"/>
              </a:rPr>
              <a:t>Fig 2: DVWA login request captured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Task 23: Application Mapping (Proxy + Target Tab)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37A78"/>
              </a:buClr>
              <a:buFont typeface="Arial"/>
              <a:buChar char="•"/>
            </a:pPr>
            <a:r>
              <a:rPr sz="1800" b="0">
                <a:solidFill>
                  <a:srgbClr val="222222"/>
                </a:solidFill>
                <a:latin typeface="Times New Roman"/>
              </a:rPr>
              <a:t>Used the Burp Target site map to explore DVWA pages.</a:t>
            </a:r>
          </a:p>
          <a:p>
            <a:pPr marL="256032" indent="-256032">
              <a:spcAft>
                <a:spcPts val="600"/>
              </a:spcAft>
              <a:buClr>
                <a:srgbClr val="237A78"/>
              </a:buClr>
              <a:buFont typeface="Arial"/>
              <a:buChar char="•"/>
            </a:pPr>
            <a:r>
              <a:rPr sz="1800" b="0">
                <a:solidFill>
                  <a:srgbClr val="222222"/>
                </a:solidFill>
                <a:latin typeface="Times New Roman"/>
              </a:rPr>
              <a:t>Submitted a normal input on the SQL Injection page. Parameters seen: </a:t>
            </a:r>
            <a:r>
              <a:rPr sz="1800" b="1">
                <a:solidFill>
                  <a:srgbClr val="222222"/>
                </a:solidFill>
                <a:latin typeface="Times New Roman"/>
              </a:rPr>
              <a:t>id</a:t>
            </a:r>
            <a:r>
              <a:rPr sz="1800" b="0">
                <a:solidFill>
                  <a:srgbClr val="222222"/>
                </a:solidFill>
                <a:latin typeface="Times New Roman"/>
              </a:rPr>
              <a:t>, </a:t>
            </a:r>
            <a:r>
              <a:rPr sz="1800" b="1">
                <a:solidFill>
                  <a:srgbClr val="222222"/>
                </a:solidFill>
                <a:latin typeface="Times New Roman"/>
              </a:rPr>
              <a:t>Submit</a:t>
            </a:r>
            <a:r>
              <a:rPr sz="1800" b="0">
                <a:solidFill>
                  <a:srgbClr val="222222"/>
                </a:solidFill>
                <a:latin typeface="Times New Roman"/>
              </a:rPr>
              <a:t>, </a:t>
            </a:r>
            <a:r>
              <a:rPr sz="1800" b="1">
                <a:solidFill>
                  <a:srgbClr val="222222"/>
                </a:solidFill>
                <a:latin typeface="Times New Roman"/>
              </a:rPr>
              <a:t>user_token</a:t>
            </a:r>
            <a:r>
              <a:rPr sz="1800" b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37A78"/>
              </a:buClr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Times New Roman"/>
              </a:rPr>
              <a:t>Result: </a:t>
            </a:r>
            <a:r>
              <a:rPr sz="1800" b="0">
                <a:solidFill>
                  <a:srgbClr val="222222"/>
                </a:solidFill>
                <a:latin typeface="Times New Roman"/>
              </a:rPr>
              <a:t>pages and parameters identified; </a:t>
            </a:r>
            <a:r>
              <a:rPr sz="1800" b="1">
                <a:solidFill>
                  <a:srgbClr val="222222"/>
                </a:solidFill>
                <a:latin typeface="Times New Roman"/>
              </a:rPr>
              <a:t>id</a:t>
            </a:r>
            <a:r>
              <a:rPr sz="1800" b="0">
                <a:solidFill>
                  <a:srgbClr val="222222"/>
                </a:solidFill>
                <a:latin typeface="Times New Roman"/>
              </a:rPr>
              <a:t> chosen for the next test.</a:t>
            </a:r>
          </a:p>
        </p:txBody>
      </p:sp>
      <p:pic>
        <p:nvPicPr>
          <p:cNvPr id="6" name="Picture 5" descr="imag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399607"/>
            <a:ext cx="5029200" cy="3551872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2000" y="612648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 dirty="0">
                <a:solidFill>
                  <a:srgbClr val="6B7B88"/>
                </a:solidFill>
                <a:latin typeface="Times New Roman"/>
              </a:rPr>
              <a:t>Fig 3: DVWA pages in the Burp site map</a:t>
            </a:r>
          </a:p>
        </p:txBody>
      </p:sp>
      <p:pic>
        <p:nvPicPr>
          <p:cNvPr id="8" name="Picture 7" descr="imag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0" y="2399607"/>
            <a:ext cx="5029200" cy="3551872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18317" y="6096657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 dirty="0">
                <a:solidFill>
                  <a:srgbClr val="6B7B88"/>
                </a:solidFill>
                <a:latin typeface="Times New Roman"/>
              </a:rPr>
              <a:t>Fig 4: SQL Injection request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Task 24: SQL Injection (Low Security)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212080" cy="175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237A78"/>
              </a:buClr>
              <a:buFont typeface="Arial"/>
              <a:buChar char="•"/>
            </a:pPr>
            <a:r>
              <a:rPr sz="1700" b="0" dirty="0">
                <a:solidFill>
                  <a:srgbClr val="222222"/>
                </a:solidFill>
                <a:latin typeface="Times New Roman"/>
              </a:rPr>
              <a:t>Sent a normal request and reviewed it in Burp Repeater.</a:t>
            </a:r>
          </a:p>
          <a:p>
            <a:pPr marL="256032" indent="-256032">
              <a:spcAft>
                <a:spcPts val="700"/>
              </a:spcAft>
              <a:buClr>
                <a:srgbClr val="237A78"/>
              </a:buClr>
              <a:buFont typeface="Arial"/>
              <a:buChar char="•"/>
            </a:pPr>
            <a:r>
              <a:rPr sz="1700" b="0" dirty="0">
                <a:solidFill>
                  <a:srgbClr val="222222"/>
                </a:solidFill>
                <a:latin typeface="Times New Roman"/>
              </a:rPr>
              <a:t>Modified the </a:t>
            </a:r>
            <a:r>
              <a:rPr sz="1700" b="1" dirty="0">
                <a:solidFill>
                  <a:srgbClr val="222222"/>
                </a:solidFill>
                <a:latin typeface="Times New Roman"/>
              </a:rPr>
              <a:t>id</a:t>
            </a:r>
            <a:r>
              <a:rPr sz="1700" b="0" dirty="0">
                <a:solidFill>
                  <a:srgbClr val="222222"/>
                </a:solidFill>
                <a:latin typeface="Times New Roman"/>
              </a:rPr>
              <a:t> parameter with the test payload.</a:t>
            </a:r>
          </a:p>
          <a:p>
            <a:pPr marL="256032" indent="-256032">
              <a:spcAft>
                <a:spcPts val="700"/>
              </a:spcAft>
              <a:buClr>
                <a:srgbClr val="237A78"/>
              </a:buClr>
              <a:buFont typeface="Arial"/>
              <a:buChar char="•"/>
            </a:pPr>
            <a:r>
              <a:rPr sz="1700" b="0" dirty="0">
                <a:solidFill>
                  <a:srgbClr val="222222"/>
                </a:solidFill>
                <a:latin typeface="Times New Roman"/>
              </a:rPr>
              <a:t>Compared the response with the normal request.</a:t>
            </a:r>
            <a:endParaRPr lang="en-IN" sz="1700" b="0" dirty="0">
              <a:solidFill>
                <a:srgbClr val="222222"/>
              </a:solidFill>
              <a:latin typeface="Times New Roman"/>
            </a:endParaRPr>
          </a:p>
          <a:p>
            <a:pPr>
              <a:spcAft>
                <a:spcPts val="700"/>
              </a:spcAft>
              <a:buClr>
                <a:srgbClr val="237A78"/>
              </a:buClr>
            </a:pPr>
            <a:endParaRPr lang="en-IN" sz="1700" dirty="0">
              <a:solidFill>
                <a:srgbClr val="222222"/>
              </a:solidFill>
              <a:latin typeface="Times New Roman"/>
            </a:endParaRPr>
          </a:p>
          <a:p>
            <a:pPr>
              <a:spcAft>
                <a:spcPts val="700"/>
              </a:spcAft>
              <a:buClr>
                <a:srgbClr val="237A78"/>
              </a:buClr>
            </a:pPr>
            <a:r>
              <a:rPr lang="en-IN" sz="1700" b="0" dirty="0">
                <a:solidFill>
                  <a:srgbClr val="222222"/>
                </a:solidFill>
                <a:latin typeface="Times New Roman"/>
              </a:rPr>
              <a:t>1 ‘ OR ‘1’=‘1</a:t>
            </a:r>
            <a:endParaRPr sz="1700" b="0" dirty="0">
              <a:solidFill>
                <a:srgbClr val="222222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302888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 dirty="0">
                <a:latin typeface="Times New Roman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68648"/>
            <a:ext cx="5029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 dirty="0">
                <a:solidFill>
                  <a:srgbClr val="222222"/>
                </a:solidFill>
                <a:latin typeface="Times New Roman"/>
              </a:rPr>
              <a:t>Multiple database records returned, including different users – the input changed the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24647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 dirty="0">
                <a:latin typeface="Times New Roman"/>
              </a:rP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90407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Prepared statements, server-side validation, least-privilege DB account, hide detailed DB errors.</a:t>
            </a:r>
          </a:p>
        </p:txBody>
      </p:sp>
      <p:pic>
        <p:nvPicPr>
          <p:cNvPr id="13" name="Picture 12" descr="image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577840" cy="3939349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126480" y="5155501"/>
            <a:ext cx="5577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6B7B88"/>
                </a:solidFill>
                <a:latin typeface="Times New Roman"/>
              </a:rPr>
              <a:t>Fig 6: SQL Injection test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Task 24: Reflected &amp; Stored XSS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3395" y="1019953"/>
            <a:ext cx="53492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 dirty="0">
                <a:solidFill>
                  <a:srgbClr val="12304A"/>
                </a:solidFill>
                <a:latin typeface="Times New Roman"/>
              </a:rPr>
              <a:t>Reflected XSS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2120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/>
              </a:rPr>
              <a:t>Page: Reflected XSS module</a:t>
            </a:r>
          </a:p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/>
              </a:rPr>
              <a:t>Input: &lt;script&gt;alert(1)&lt;/script&gt;</a:t>
            </a:r>
          </a:p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/>
              </a:rPr>
              <a:t>Result: alert showing 1 – script ran</a:t>
            </a:r>
          </a:p>
        </p:txBody>
      </p:sp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741063"/>
            <a:ext cx="3886200" cy="2747475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264920" y="5655443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 dirty="0">
                <a:solidFill>
                  <a:srgbClr val="6B7B88"/>
                </a:solidFill>
                <a:latin typeface="Times New Roman"/>
              </a:rPr>
              <a:t>Fig 7: Alert in Reflected XSS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019853"/>
            <a:ext cx="534924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 dirty="0">
                <a:solidFill>
                  <a:srgbClr val="12304A"/>
                </a:solidFill>
                <a:latin typeface="Times New Roman"/>
              </a:rPr>
              <a:t>Stored XSS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2120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Times New Roman"/>
              </a:rPr>
              <a:t>Page: Stored XSS (guestbook)</a:t>
            </a:r>
          </a:p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Times New Roman"/>
              </a:rPr>
              <a:t>Payload submitted as the message</a:t>
            </a:r>
          </a:p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Times New Roman"/>
              </a:rPr>
              <a:t>Result: alert shown when entry processed</a:t>
            </a:r>
          </a:p>
        </p:txBody>
      </p:sp>
      <p:pic>
        <p:nvPicPr>
          <p:cNvPr id="13" name="Picture 12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923" y="2661219"/>
            <a:ext cx="3886200" cy="2747475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040880" y="5655443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 dirty="0">
                <a:solidFill>
                  <a:srgbClr val="6B7B88"/>
                </a:solidFill>
                <a:latin typeface="Times New Roman"/>
              </a:rPr>
              <a:t>Fig 9: Alert in Stored XSS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Task 25: Directory &amp; Endpoint Discovery (Dirsearch)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19443"/>
            <a:ext cx="1033272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 i="0" dirty="0" err="1">
                <a:latin typeface="Courier New"/>
              </a:rPr>
              <a:t>dirsearch</a:t>
            </a:r>
            <a:r>
              <a:rPr sz="1600" b="0" i="0" dirty="0">
                <a:latin typeface="Courier New"/>
              </a:rPr>
              <a:t> -u http://127.0.0.1/DVWA/ -e </a:t>
            </a:r>
            <a:r>
              <a:rPr sz="1600" b="0" i="0" dirty="0" err="1">
                <a:latin typeface="Courier New"/>
              </a:rPr>
              <a:t>php,html,txt</a:t>
            </a:r>
            <a:r>
              <a:rPr sz="1600" b="0" i="0" dirty="0">
                <a:latin typeface="Courier New"/>
              </a:rPr>
              <a:t> --threads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070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Times New Roman"/>
              </a:rPr>
              <a:t>Several paths and files returned HTTP 200; some returned 403 Forbidden.</a:t>
            </a:r>
          </a:p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Times New Roman"/>
              </a:rPr>
              <a:t>Scan reported </a:t>
            </a:r>
            <a:r>
              <a:rPr sz="1600" b="1">
                <a:solidFill>
                  <a:srgbClr val="222222"/>
                </a:solidFill>
                <a:latin typeface="Times New Roman"/>
              </a:rPr>
              <a:t>.git</a:t>
            </a:r>
            <a:r>
              <a:rPr sz="1600" b="0">
                <a:solidFill>
                  <a:srgbClr val="222222"/>
                </a:solidFill>
                <a:latin typeface="Times New Roman"/>
              </a:rPr>
              <a:t> and </a:t>
            </a:r>
            <a:r>
              <a:rPr sz="1600" b="1">
                <a:solidFill>
                  <a:srgbClr val="222222"/>
                </a:solidFill>
                <a:latin typeface="Times New Roman"/>
              </a:rPr>
              <a:t>.git/config</a:t>
            </a:r>
            <a:r>
              <a:rPr sz="1600" b="0">
                <a:solidFill>
                  <a:srgbClr val="222222"/>
                </a:solidFill>
                <a:latin typeface="Times New Roman"/>
              </a:rPr>
              <a:t> as accessible.</a:t>
            </a:r>
          </a:p>
          <a:p>
            <a:pPr marL="256032" indent="-256032">
              <a:spcAft>
                <a:spcPts val="400"/>
              </a:spcAft>
              <a:buClr>
                <a:srgbClr val="237A78"/>
              </a:buClr>
              <a:buFont typeface="Arial"/>
              <a:buChar char="•"/>
            </a:pPr>
            <a:r>
              <a:rPr sz="1600" b="0">
                <a:solidFill>
                  <a:srgbClr val="222222"/>
                </a:solidFill>
                <a:latin typeface="Times New Roman"/>
              </a:rPr>
              <a:t>Potential information disclosure – evidence must be reviewed before calling it a finding.</a:t>
            </a:r>
          </a:p>
        </p:txBody>
      </p:sp>
      <p:pic>
        <p:nvPicPr>
          <p:cNvPr id="8" name="Picture 7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8960"/>
            <a:ext cx="4572000" cy="3232324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005840" y="6368716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6B7B88"/>
                </a:solidFill>
                <a:latin typeface="Times New Roman"/>
              </a:rPr>
              <a:t>Fig 11: Dirsearch scan results</a:t>
            </a:r>
          </a:p>
        </p:txBody>
      </p:sp>
      <p:pic>
        <p:nvPicPr>
          <p:cNvPr id="10" name="Picture 9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108960"/>
            <a:ext cx="4572000" cy="3232324"/>
          </a:xfrm>
          <a:prstGeom prst="rect">
            <a:avLst/>
          </a:prstGeom>
          <a:ln w="12700">
            <a:solidFill>
              <a:srgbClr val="B8C4C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83680" y="6368716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6B7B88"/>
                </a:solidFill>
                <a:latin typeface="Times New Roman"/>
              </a:rPr>
              <a:t>Fig 12: Additional Dirsearch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74552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C9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60704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237A78"/>
              </a:buClr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Times New Roman"/>
              </a:rPr>
              <a:t>Intercepted HTTP requests and mapped the application with Burp Suite.</a:t>
            </a:r>
          </a:p>
          <a:p>
            <a:pPr marL="256032" indent="-256032">
              <a:spcAft>
                <a:spcPts val="1400"/>
              </a:spcAft>
              <a:buClr>
                <a:srgbClr val="237A78"/>
              </a:buClr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Times New Roman"/>
              </a:rPr>
              <a:t>Confirmed SQL Injection, Reflected XSS and Stored XSS in DVWA.</a:t>
            </a:r>
          </a:p>
          <a:p>
            <a:pPr marL="256032" indent="-256032">
              <a:spcAft>
                <a:spcPts val="1400"/>
              </a:spcAft>
              <a:buClr>
                <a:srgbClr val="237A78"/>
              </a:buClr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Times New Roman"/>
              </a:rPr>
              <a:t>Dirsearch reported accessible .git metadata – check deployment files and restrict repository data.</a:t>
            </a:r>
          </a:p>
          <a:p>
            <a:pPr marL="256032" indent="-256032">
              <a:spcAft>
                <a:spcPts val="1400"/>
              </a:spcAft>
              <a:buClr>
                <a:srgbClr val="237A78"/>
              </a:buClr>
              <a:buFont typeface="Arial"/>
              <a:buChar char="•"/>
            </a:pPr>
            <a:r>
              <a:rPr sz="2000" b="0">
                <a:solidFill>
                  <a:srgbClr val="222222"/>
                </a:solidFill>
                <a:latin typeface="Times New Roman"/>
              </a:rPr>
              <a:t>Learned to observe requests, reproduce issues, collect evidence and suggest basic fixes.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721</Words>
  <Application>Microsoft Office PowerPoint</Application>
  <PresentationFormat>Widescreen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Sameena D</cp:lastModifiedBy>
  <cp:revision>2</cp:revision>
  <dcterms:created xsi:type="dcterms:W3CDTF">2013-01-27T09:14:16Z</dcterms:created>
  <dcterms:modified xsi:type="dcterms:W3CDTF">2026-10-20T08:19:54Z</dcterms:modified>
  <cp:category/>
</cp:coreProperties>
</file>